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9" r:id="rId4"/>
    <p:sldId id="258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-114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91695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 Programming Concepts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typedef  •  enum  •  Storage Classes  •  Operators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343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Notes &amp; Sample Programs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typedef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typedef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typedef lets you give an existing data type a new name (identifier); it doesn't create a new type, only a new name for an existing one, mainly used to make programs more readable.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typedef — Sample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typedef int years;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years age = 20;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printf("Age: %d\n", age);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Age: 20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enum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enum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enum is a user-defined enumerated data type where variables can hold one of a fixed set of values (enumeration constants); the compiler automatically assigns these values integers starting from 0.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enum — Sample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enum day {Monday, Tuesday, Wednesday};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enum day today = Wednesday;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printf("Day: %d\n", today);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Day: 2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Storage Classes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Storage Class — Short Note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storage class decides where a variable is stored, how long it lives, and where in the program it can be used.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 forgets, static remembers, extern is shared everywhere, and register is built for speed.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Storage Class — Sample Program (auto vs static)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868680" y="86868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78523" y="868680"/>
            <a:ext cx="9894277" cy="27666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</a:t>
            </a:r>
            <a:r>
              <a:rPr lang="en-US" sz="2000" dirty="0" err="1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stdio.h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void counter()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auto int a = 0;    // resets every call (default)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static int s = 0;  // keeps value between 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calls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a = a + 1;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s = s + 1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printf("auto a = %d, static s = %d\n", a, s);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counter();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counter();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counter();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auto a=1,s=1 | auto a=1,s=2 | auto a=1,s=3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Storage Classes and Their Meaning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640080" y="1371600"/>
          <a:ext cx="10881360" cy="1981200"/>
        </p:xfrm>
        <a:graphic>
          <a:graphicData uri="http://schemas.openxmlformats.org/drawingml/2006/table">
            <a:tbl>
              <a:tblPr/>
              <a:tblGrid>
                <a:gridCol w="2103120"/>
                <a:gridCol w="8778240"/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Storage Class</a:t>
                      </a:r>
                      <a:endParaRPr lang="en-US" sz="2000" dirty="0"/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2000" dirty="0"/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</a:rPr>
                        <a:t>auto</a:t>
                      </a:r>
                      <a:endParaRPr lang="en-US" sz="2000" dirty="0"/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</a:rPr>
                        <a:t>Local variable known only to the function in which it is declared. This is the default.</a:t>
                      </a:r>
                      <a:endParaRPr lang="en-US" sz="2000" dirty="0"/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</a:rPr>
                        <a:t>static</a:t>
                      </a:r>
                      <a:endParaRPr lang="en-US" sz="2000" dirty="0"/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</a:rPr>
                        <a:t>Local variable which exists and retains its value even after the function ends.</a:t>
                      </a:r>
                      <a:endParaRPr lang="en-US" sz="2000" dirty="0"/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</a:rPr>
                        <a:t>extern</a:t>
                      </a:r>
                      <a:endParaRPr lang="en-US" sz="2000" dirty="0"/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</a:rPr>
                        <a:t>Global variable known to all functions in the file.</a:t>
                      </a:r>
                      <a:endParaRPr lang="en-US" sz="2000" dirty="0"/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</a:rPr>
                        <a:t>register</a:t>
                      </a:r>
                      <a:endParaRPr lang="en-US" sz="2000" dirty="0"/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444444"/>
                          </a:solidFill>
                        </a:rPr>
                        <a:t>Local variable stored in the CPU register (faster access).</a:t>
                      </a:r>
                      <a:endParaRPr lang="en-US" sz="2000" dirty="0"/>
                    </a:p>
                  </a:txBody>
                  <a:tcPr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Assigning Values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Assigning Values to Variables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Values are given to variables using the = (assignment) operator. The value on the right is computed and stored into the variable on the left.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Syntax:  variable_name = constant;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Assigning Values — Sample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final_value = 100;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char yes = 'x';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double balance = 75.84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printf("Final value: %d\n", final_value);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printf("Yes: %c\n", yes);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printf("Balance: %.2f\n", balance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value: 100 | Yes: x | Balance: 75.84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Reading from Keyboard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Data from Keyboard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scanf() is used to read values entered by the user at runtime and store them into variables using the &amp; (address-of) operator.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Syntax:  scanf("control string", &amp;variable);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from Keyboard — Sample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age;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printf("Enter your age: ");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scanf("%d", &amp;age);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printf("Age: %d\n", age);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 your age: 20  -&gt;  Age: 20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377440"/>
            <a:ext cx="2743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Operators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Operators — Introduction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 operator is a symbol that tells the computer to perform certain mathematical or logical operations. Operators are used to manipulate data and variables, forming part of an expression.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 operators fall into 8 categories: Arithmetic, Relational, Logical, Assignment, Increment/Decrement, Conditional, Bitwise, and Special.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Arithmetic Operators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 to perform basic mathematical calculations: addition, subtraction, multiplication, division, and finding the remainder.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   addition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   subtraction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   multiplication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  division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%   modulus (remainder)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Arithmetic Operators —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a = 10, b = 3;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+ b = %d\n", a +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- b = %d\n", a -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* b = %d\n", a *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/ b = %d\n", a /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%% b = %d\n", a % b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a+b=13 | a-b=7 | a*b=30 | a/b=3 | a%b=1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Relational Operators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 to compare two values. The result is either 1 (true) or 0 (false).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   less than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   greater than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&lt;=  less than or equal to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&gt;=  greater than or equal to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==  equal to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!=  not equal to</a:t>
            </a:r>
            <a:endParaRPr lang="en-US" sz="2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Relational Operators —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a = 5, b = 8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&lt; b : %d\n", a &lt;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&gt; b : %d\n", a &gt;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&lt;= b : %d\n", a &lt;=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&gt;= b : %d\n", a &gt;=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== b : %d\n", a ==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!= b : %d\n", a != b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a&lt;b=1 | a&gt;b=0 | a&lt;=b=1 | a&gt;=b=0 | a==b=0 | a!=b=1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Logical Operators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 to combine two or more conditions. The result is 1 (true) or 0 (false).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&amp;&amp;  AND - true only if both conditions are true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||  OR - true if at least one condition is true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!   NOT - reverses true/false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Logical Operators —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a = 1, b = 0;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&amp;&amp; b : %d\n", a &amp;&amp;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|| b : %d\n", a ||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printf("!a : %d\n", !a);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printf("!b : %d\n", !b);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a&amp;&amp;b=0 | a||b=1 | !a=0 | !b=1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Assignment Operators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 to assign values to variables, often combined with an operation.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   assign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+=  add and assign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-=  subtract and assign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*=  multiply and assign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/=  divide and assign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%=  modulus and assign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Assignment Operators —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</a:t>
            </a:r>
            <a:r>
              <a:rPr lang="en-US" sz="2000" dirty="0" err="1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stdio.h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x = 10;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printf("x = %d\n", x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x += 5;   printf("x += 5 -&gt; %d\n", x);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x -= 3;   printf("x -= 3 -&gt; %d\n", x);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x *= 2;   printf("x *= 2 -&gt; %d\n", x);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x /= 4;   printf("x /= 4 -&gt; %d\n", x);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x %= 5;   printf("x %%= 5 -&gt; %d\n", x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x=10 | +=5-&gt;15 | -=3-&gt;12 | *=2-&gt;24 | /=4-&gt;6 | %=5-&gt;1</a:t>
            </a:r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Increment and Decrement Operators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These operators increase or decrease a variable's value by 1. 'Pre' changes the value before it is used; 'post' changes it after.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++x  pre-increment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x++  post-increment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--x  pre-decrement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x--  post-decrement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Increment / Decrement Operators —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</a:t>
            </a:r>
            <a:r>
              <a:rPr lang="en-US" sz="2000" dirty="0" err="1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stdio.h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x = 5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printf("++x = %d\n", ++x);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printf("x++ = %d\n", x++);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printf("x now = %d\n", x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printf("--x = %d\n", --x);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printf("x-- = %d\n", x--);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printf("x now = %d\n", x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++x=6 | x++=6 | x now=7 | --x=6 | x--=6 | x now=5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6. Conditional (Ternary) Operator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shortcut for a simple if-else statement. It picks one of two values based on a condition.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Syntax:  condition ? value_if_true : value_if_false</a:t>
            </a:r>
            <a:endParaRPr lang="en-US" sz="2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Conditional Operator —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&lt;stdio.h&gt;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marks = 45;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char result = (marks &gt;= 40) ? 'P' : 'F';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printf("Result: %c\n", result);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Result: P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 Bitwise Operators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 operations directly on the individual bits of a number.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   AND - 1 if both bits are 1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|   OR - 1 if either bit is 1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^   XOR - 1 if bits are different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   NOT - flips every bit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&lt;&lt;  left shift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&gt;&gt;  right shift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Bitwise Operators —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</a:t>
            </a:r>
            <a:r>
              <a:rPr lang="en-US" sz="2000" dirty="0" err="1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stdio.h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a = 5;    // 0101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b = 3;    // 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0011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&amp; b  = %d\n", a &amp;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| b  = %d\n", a |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^ b  = %d\n", a ^ b);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printf("~a     = %d\n", ~a);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&lt;&lt; 1 = %d\n", a &lt;&lt; 1);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 &gt;&gt; 1 = %d\n", a &gt;&gt; 1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a&amp;b=1 | a|b=7 | a^b=6 | ~a=-6 | a&lt;&lt;1=10 | a&gt;&gt;1=2</a:t>
            </a:r>
            <a:endParaRPr lang="en-US" sz="2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8. Special Operators — Explanation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1097280" cy="36576"/>
          </a:xfrm>
          <a:prstGeom prst="rect">
            <a:avLst/>
          </a:prstGeom>
          <a:solidFill>
            <a:srgbClr val="5C7CF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10881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Unique-purpose operators - sizeof for memory size, comma for combining expressions, and &amp;/* for working with memory addresses (pointers).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sizeof  gives size (in bytes) of a type/variable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      evaluates multiple expressions, keeps the last value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&amp;       gives the memory address of a variable</a:t>
            </a:r>
            <a:endParaRPr lang="en-US" sz="20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       accesses the value stored at an address (dereference)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1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Special Operators — Program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881360" cy="4206240"/>
          </a:xfrm>
          <a:prstGeom prst="roundRect">
            <a:avLst>
              <a:gd name="adj" fmla="val 1304"/>
            </a:avLst>
          </a:prstGeom>
          <a:solidFill>
            <a:srgbClr val="1F2145"/>
          </a:solidFill>
          <a:ln w="12700">
            <a:solidFill>
              <a:srgbClr val="5C7C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143000"/>
            <a:ext cx="10424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#include &lt;</a:t>
            </a:r>
            <a:r>
              <a:rPr lang="en-US" sz="2000" dirty="0" err="1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stdio.h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 main()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x = 10;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*ptr = &amp;x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printf("sizeof(int) = %lu\n", sizeof(int));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printf("Address of x = %p\n", (void*)&amp;x);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printf("Value via pointer = %d\n", *</a:t>
            </a:r>
            <a:r>
              <a:rPr lang="en-US" sz="2000" dirty="0" err="1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ptr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int result = (x = 5, x + 10);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printf("Comma result = %d\n", result</a:t>
            </a:r>
            <a:r>
              <a:rPr lang="en-US" sz="2000" dirty="0" smtClean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return 0;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349240"/>
            <a:ext cx="10881360" cy="1005840"/>
          </a:xfrm>
          <a:prstGeom prst="roundRect">
            <a:avLst>
              <a:gd name="adj" fmla="val 5455"/>
            </a:avLst>
          </a:prstGeom>
          <a:solidFill>
            <a:srgbClr val="12142E"/>
          </a:solidFill>
          <a:ln w="12700">
            <a:solidFill>
              <a:srgbClr val="3A3D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4864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 </a:t>
            </a:r>
            <a:r>
              <a:rPr lang="en-US" sz="2000" dirty="0">
                <a:solidFill>
                  <a:srgbClr val="E8EC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sizeof=4 | address=0x7ffee2a3c9ac | *ptr=10 | comma=15</a:t>
            </a:r>
            <a:endParaRPr lang="en-US" sz="2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Summary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19" y="742462"/>
            <a:ext cx="10889957" cy="57130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typedef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-&gt; Renames an existing type for </a:t>
            </a:r>
            <a:r>
              <a:rPr lang="en-US" sz="2000" dirty="0" smtClean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clarity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enum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-&gt; Creates named constants for a fixed set of </a:t>
            </a:r>
            <a:r>
              <a:rPr lang="en-US" sz="2000" dirty="0" smtClean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values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Storage Classes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-&gt; Control scope &amp; lifetime of variables (auto, static, extern, register</a:t>
            </a:r>
            <a:r>
              <a:rPr lang="en-US" sz="2000" dirty="0" smtClean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Assigning Values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-&gt; Store a value into a variable using </a:t>
            </a:r>
            <a:r>
              <a:rPr lang="en-US" sz="2000" dirty="0" smtClean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=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Reading from Keyboard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-&gt; Use scanf() with &amp; to read user input
</a:t>
            </a:r>
            <a:r>
              <a:rPr lang="en-US" sz="2000" b="1" dirty="0" smtClean="0">
                <a:solidFill>
                  <a:srgbClr val="5C7C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Operators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-&gt; Arithmetic, Relational, Logical, Assignment, Increment/Decrement,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Conditional, Bitwise, and Special operators manipulate data &amp; expressions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2091</Words>
  <Application>Microsoft Office PowerPoint</Application>
  <PresentationFormat>Custom</PresentationFormat>
  <Paragraphs>326</Paragraphs>
  <Slides>36</Slides>
  <Notes>36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iyyappanmass@gmail.com</cp:lastModifiedBy>
  <cp:revision>7</cp:revision>
  <dcterms:created xsi:type="dcterms:W3CDTF">2026-07-21T16:50:00Z</dcterms:created>
  <dcterms:modified xsi:type="dcterms:W3CDTF">2026-07-21T17:52:01Z</dcterms:modified>
</cp:coreProperties>
</file>